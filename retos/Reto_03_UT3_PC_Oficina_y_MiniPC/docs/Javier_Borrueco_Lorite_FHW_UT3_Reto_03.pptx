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8640" cy="12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877680" y="2159280"/>
            <a:ext cx="4976280" cy="401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328440" y="2159280"/>
            <a:ext cx="4984560" cy="401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1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2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3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33C509-6F0E-40C4-B944-0B86E1CE88B1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81280" y="602640"/>
            <a:ext cx="10428120" cy="76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81280" y="1696320"/>
            <a:ext cx="4962600" cy="64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881280" y="2343960"/>
            <a:ext cx="4962600" cy="38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322680" y="1696320"/>
            <a:ext cx="4987080" cy="64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6322680" y="2343960"/>
            <a:ext cx="4987080" cy="38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dt" idx="4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ftr" idx="5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8"/>
          <p:cNvSpPr>
            <a:spLocks noGrp="1"/>
          </p:cNvSpPr>
          <p:nvPr>
            <p:ph type="sldNum" idx="6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0D559B-7CA3-4B1C-9A5C-1565F6E55516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8640" cy="12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7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8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9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3A575F-B934-48C8-B42A-0965B3D9A298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A1A661-57FC-49AF-8986-58FB02A4D848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9880" y="807840"/>
            <a:ext cx="3639600" cy="20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432760" y="807840"/>
            <a:ext cx="5921280" cy="50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39600" cy="286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F761E1-F8C3-4AEA-8550-6EBA05A77E01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9880" y="820800"/>
            <a:ext cx="3638160" cy="20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247360" y="919440"/>
            <a:ext cx="6107040" cy="5012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42840" cy="286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A9F27C-9163-4207-910E-CD586D6DD2AA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20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36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36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19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0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1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7E9C20-0347-4C08-AE03-0CC24EF1438B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8640" cy="12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title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1440" cy="390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2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3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24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C5512C-F2C5-4FBE-B6A7-9AE9A6D1DAA7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724960" y="592200"/>
            <a:ext cx="2628000" cy="55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edit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Master </a:t>
            </a: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838080" y="592200"/>
            <a:ext cx="7733160" cy="55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05BCED-D674-445B-82A5-59C80E252CA1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8640" cy="12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1440" cy="390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DA8607-1367-49B0-874C-64E77AB0BCC1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"/>
          <p:cNvSpPr/>
          <p:nvPr/>
        </p:nvSpPr>
        <p:spPr>
          <a:xfrm>
            <a:off x="0" y="0"/>
            <a:ext cx="12191040" cy="685908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74200" y="1514520"/>
            <a:ext cx="8583120" cy="31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pc="300" strike="noStrike" cap="all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1474200" y="4964040"/>
            <a:ext cx="858312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8776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7132320" y="6356520"/>
            <a:ext cx="4296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11430000" y="6356520"/>
            <a:ext cx="520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ABF495-D718-4048-9386-4A74F1A0E490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gigabyte-b450m-k" TargetMode="External"/><Relationship Id="rId2" Type="http://schemas.openxmlformats.org/officeDocument/2006/relationships/hyperlink" Target="https://www.pccomponentes.com/kingston-fury-beast-ddr4-3200-mhz-8gb-cl16" TargetMode="External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wd-blue-sn580-500gb-ssd-m2-pcie-40-nvme" TargetMode="External"/><Relationship Id="rId2" Type="http://schemas.openxmlformats.org/officeDocument/2006/relationships/hyperlink" Target="https://www.pccomponentes.com/msi-mag-a550bn-550w-80-plus-bronze" TargetMode="External"/><Relationship Id="rId3" Type="http://schemas.openxmlformats.org/officeDocument/2006/relationships/hyperlink" Target="https://www.pccomponentes.com/tempest-rampart-argb-m-atx-cristal-templado-usb-30-negra" TargetMode="External"/><Relationship Id="rId4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hyperlink" Target="https://www.pccomponentes.com/gigabyte-b450m-k" TargetMode="External"/><Relationship Id="rId3" Type="http://schemas.openxmlformats.org/officeDocument/2006/relationships/hyperlink" Target="https://www.pccomponentes.com/kingston-fury-beast-ddr4-3200-mhz-8gb-cl16" TargetMode="External"/><Relationship Id="rId4" Type="http://schemas.openxmlformats.org/officeDocument/2006/relationships/hyperlink" Target="https://www.pccomponentes.com/wd-blue-sn580-500gb-ssd-m2-pcie-40-nvme" TargetMode="External"/><Relationship Id="rId5" Type="http://schemas.openxmlformats.org/officeDocument/2006/relationships/hyperlink" Target="https://www.pccomponentes.com/msi-mag-a550bn-550w-80-plus-bronze" TargetMode="External"/><Relationship Id="rId6" Type="http://schemas.openxmlformats.org/officeDocument/2006/relationships/hyperlink" Target="https://www.pccomponentes.com/tempest-rampart-argb-m-atx-cristal-templado-usb-30-negra" TargetMode="External"/><Relationship Id="rId7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www.amazon.es/Blackview-MP60-actualizado-Espandibile-Display/dp/B0FL25SB34" TargetMode="External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" y="745560"/>
            <a:ext cx="12189600" cy="22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800" b="1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Reto_03_UT3_PC_Oficina_y_MiniPC</a:t>
            </a:r>
            <a:endParaRPr lang="es-E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1523880" y="4012920"/>
            <a:ext cx="9142920" cy="13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Javier Borrueco Lorite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Grupo 3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20/02/2026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71200" y="442080"/>
            <a:ext cx="10438200" cy="97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Objetivo y requisitos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77680" y="2157840"/>
            <a:ext cx="10441440" cy="390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Objetivo: 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 Diseñar y comparar soluciones informáticas para una oficina.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Requisitos: 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 Un equipo preparado para el uso en oficina.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 Buscar una relación calidad-precio.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 Garantizar la compatibilidad de los componentes del equipo.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F2B0C3-FE70-4E88-8BBE-A7731DCBC133}" type="slidenum">
              <a:t>2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8BAE0D88-2938-4BAA-9DB4-F0CCA7CB602F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71200" y="229680"/>
            <a:ext cx="10448640" cy="95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CPU y por qué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77680" y="1373400"/>
            <a:ext cx="10441440" cy="523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AMD Ryzen 5 5600GT 3.6/4.6GHz Box 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139,90 €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 </a:t>
            </a: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¿Por qué esta CPU?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Incluye gráficos integrados, lo que nos ahorra comprar una tarjeta gráfica dedicada.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Sus 12 hilos ofrecen potencia de sobra para multitarea en la oficina.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Requiere una placa base con el socket AM4.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A86DD7-B736-4043-840D-7677AA69F020}" type="slidenum">
              <a:t>3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FC65D85F-A541-4E25-9031-A7A536C73850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864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Placa + RAM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877680" y="1272600"/>
            <a:ext cx="10441440" cy="478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Placa Base: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Gigabyte B450M K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73,99 €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20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Tiene socket AM4 (compatible con la CPU Ryzen 5600GT) y formato Micro-ATX.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Memoria RAM: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Kingston FURY Beast DDR4 3200 MHz 8GB CL16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 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82,95 €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20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Es memoria DDR4, el estándar soportado por la placa base B450M.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0C08CB-6965-474C-AC33-E0E8AEDB0920}" type="slidenum">
              <a:t>4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9846D064-3402-4E48-8619-3C0CC0693BDD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8640" cy="72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SSD + PSU + chasis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77680" y="745920"/>
            <a:ext cx="10441440" cy="531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Almacenamiento (SSD):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WD Blue SN580 500GB SSD M.2 PCIe 4.0 NVMe | Precio: 44 €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Encaja en la ranura M.2 de la placa base.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Fuente de alimentación (PSU):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MSI MAG A550BN 550W 80 Plus Bronze | Precio: 49,90 €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Conectores ATX 24 pines y EPS 8 pines compatibles con la placa.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Chasis: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Tempest Rampart ARGB M-ATX Cristal Templado Negra | Precio: 36,99 €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3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Formato Micro-ATX para la placa base y espacio para la fuente ATX.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0386C5-3A01-4C78-B6AD-CA7EFD960B75}" type="slidenum">
              <a:t>5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21F1D1E9-7BDE-493B-8A3A-C65FE283FFBC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71200" y="128880"/>
            <a:ext cx="10448640" cy="7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Presupuesto final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" name="Marcador de contenido 12"/>
          <p:cNvGraphicFramePr/>
          <p:nvPr/>
        </p:nvGraphicFramePr>
        <p:xfrm>
          <a:off x="347400" y="986040"/>
          <a:ext cx="11477880" cy="5250240"/>
        </p:xfrm>
        <a:graphic>
          <a:graphicData uri="http://schemas.openxmlformats.org/drawingml/2006/table">
            <a:tbl>
              <a:tblPr/>
              <a:tblGrid>
                <a:gridCol w="2869560"/>
                <a:gridCol w="2869560"/>
                <a:gridCol w="2869560"/>
                <a:gridCol w="2869560"/>
              </a:tblGrid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Componente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Modelo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Precio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URL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CPU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AMD Ryzen 5 5600GT Box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139,90 €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1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Placa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Gigabyte B450M K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73,99 €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2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RAM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Kingston FURY Beast 8GB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82,95 €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3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SSD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WD Blue SN580 500GB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ea typeface="Noto Sans CJK SC"/>
                        </a:rPr>
                        <a:t>44 €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4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PSU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MSI MAG A550BN 550W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5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Chasis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Tempest Rampart M-ATX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36,99 €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6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TOTAL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427,73 €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656F6B-0CE2-4423-98A5-C9131A19FA19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A5844BF9-5E76-4569-9769-59DC61B993B8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8640" cy="86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Mini PC alternativa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40000" y="1063800"/>
            <a:ext cx="10441440" cy="523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Blackview MP60 (Intel Alder Lake N95)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 </a:t>
            </a: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299,00 € (Incluye Windows 11 Pro preinstalado)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</a:t>
            </a: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14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rgbClr val="1c1c1c"/>
                </a:solidFill>
                <a:effectLst/>
                <a:uFillTx/>
                <a:latin typeface="Aptos Light"/>
                <a:ea typeface="Aptos Light"/>
              </a:rPr>
              <a:t>CPU: Intel Alder Lake N95 (4 núcleos, 4 hilos, hasta 3,40 GHz)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rgbClr val="1c1c1c"/>
                </a:solidFill>
                <a:effectLst/>
                <a:uFillTx/>
                <a:latin typeface="Aptos Light"/>
                <a:ea typeface="Aptos Light"/>
              </a:rPr>
              <a:t>RAM: 16 GB DDR4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rgbClr val="1c1c1c"/>
                </a:solidFill>
                <a:effectLst/>
                <a:uFillTx/>
                <a:latin typeface="Aptos Light"/>
                <a:ea typeface="Aptos Light"/>
              </a:rPr>
              <a:t>SSD/almacenamiento: SSD M.2 de 512 GB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rgbClr val="1c1c1c"/>
                </a:solidFill>
                <a:effectLst/>
                <a:uFillTx/>
                <a:latin typeface="Aptos Light"/>
                <a:ea typeface="Aptos Light"/>
              </a:rPr>
              <a:t>Conectividad (Wi‑Fi/Ethernet/USB/vídeo): Wi-Fi 5 de doble banda (2.4G/5G), Bluetooth 4.2, 1x Gigabit Ethernet RJ45, 2x USB 3.0, 2x USB 2.0, 2x HDMI (soporte 4K a 60Hz).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Pros: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 Formato ultra compacto.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 Más barato y listo para usar (Plug &amp; Play con SO incluido).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 Doble salida HDMI para dos monitores 4K.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Contras</a:t>
            </a: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: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 Potencia muy inferior a la Opción 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 RAM limitada a 16 GB y no ampliable.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717"/>
              </a:spcBef>
              <a:buNone/>
              <a:tabLst>
                <a:tab algn="l" pos="0"/>
              </a:tabLst>
            </a:pPr>
            <a:r>
              <a:rPr lang="es-ES" sz="1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 Si se rompe una pieza interna, hay que cambiar todo el equipo.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E421F96-CD83-426C-AFE0-0969ADDCD8BE}" type="slidenum">
              <a:t>7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A2FE305-87EC-49D4-B6F0-008F42F5A154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71200" y="-5760"/>
            <a:ext cx="10448640" cy="80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Comparación final A vs B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77680" y="1104480"/>
            <a:ext cx="10441440" cy="49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opción elegir para una oficina real?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Elección: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La Opción B (Mini PC).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Motivo: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Para tareas básicas, no hace falta la potencia bruta del PC por piezas. Cuesta la mitad , ocupa menos espacio y ya trae el Windows instalado, ahorrando tiempo de montaje. El PC a piezas solo lo usaría para puestos con cargas de trabajo muy pesadas.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he aprendido sobre compatibilidad?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Que montar un PC es como un puzzle, donde la placa base manda. Teniendo que coincidir todo exactamente con ella (el socket, el tipo de RAM...) y si no, no encaja. 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Y sobre los equipos ya montados (como el Mini PC), he visto que pagas por la comodidad, pero sacrificas poder "trastear" o ampliar el ordenador en el futuro si se queda corto.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796432-0264-46AF-849E-6B4B20B479C4}" type="slidenum">
              <a:t>8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D3507428-0E31-4E1E-B56B-D055FAE806FF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ohoVogueVTI">
  <a:themeElements>
    <a:clrScheme name="BohoVogueVTI">
      <a:dk1>
        <a:srgbClr val="000000"/>
      </a:dk1>
      <a:lt1>
        <a:srgbClr val="ffffff"/>
      </a:lt1>
      <a:dk2>
        <a:srgbClr val="35403a"/>
      </a:dk2>
      <a:lt2>
        <a:srgbClr val="f1efeb"/>
      </a:lt2>
      <a:accent1>
        <a:srgbClr val="9e8b50"/>
      </a:accent1>
      <a:accent2>
        <a:srgbClr val="d5966b"/>
      </a:accent2>
      <a:accent3>
        <a:srgbClr val="9ba6bb"/>
      </a:accent3>
      <a:accent4>
        <a:srgbClr val="869880"/>
      </a:accent4>
      <a:accent5>
        <a:srgbClr val="588267"/>
      </a:accent5>
      <a:accent6>
        <a:srgbClr val="b89c46"/>
      </a:accent6>
      <a:hlink>
        <a:srgbClr val="c77138"/>
      </a:hlink>
      <a:folHlink>
        <a:srgbClr val="589374"/>
      </a:folHlink>
    </a:clrScheme>
    <a:fontScheme name="BohoVogueVTI">
      <a:majorFont>
        <a:latin typeface="Walbaum Display" pitchFamily="0" charset="1"/>
        <a:ea typeface=""/>
        <a:cs typeface=""/>
      </a:majorFont>
      <a:minorFont>
        <a:latin typeface="Aptos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LibreOffice/25.8.4.2$Linux_X86_64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2026-02-27T10:51:55Z</dcterms:created>
  <dc:creator/>
  <dc:description/>
  <dc:language>es-ES</dc:language>
  <cp:lastModifiedBy/>
  <dcterms:modified xsi:type="dcterms:W3CDTF">2026-03-10T16:46:44Z</dcterms:modified>
  <cp:revision>269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8</vt:i4>
  </property>
</Properties>
</file>