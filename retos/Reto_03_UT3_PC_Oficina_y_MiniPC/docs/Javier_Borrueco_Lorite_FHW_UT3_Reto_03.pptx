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3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752A89-4F37-465B-99C2-8FE63609BB0F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9880" y="807840"/>
            <a:ext cx="3639960" cy="20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432760" y="807840"/>
            <a:ext cx="5921640" cy="50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39960" cy="286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1D190E-B7B0-4BAD-BC4D-124AC995AACA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9880" y="820800"/>
            <a:ext cx="3638520" cy="20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8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247360" y="919440"/>
            <a:ext cx="6107400" cy="501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839880" y="3000600"/>
            <a:ext cx="3643200" cy="286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7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8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FF2B81-5667-40CB-BB91-C6E78BEFE909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20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D8EC8D-018A-4623-813E-C48FF00F878F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2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Pulse para editar el formato de texto del esquema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2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Segundo nivel del esquema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2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Tercer nivel del esquema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2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Cuarto nivel del esquema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Quinto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Sexto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2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Séptimo nivel del esquema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000" cy="12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1800" cy="390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F6AC2C-2EC0-4611-8CDE-53A2D6BB6764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724960" y="592200"/>
            <a:ext cx="2628360" cy="55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 vert="eaVer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592200"/>
            <a:ext cx="7733520" cy="55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6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7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8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1127A-1FD7-4CA0-A77A-9CD29EECBD04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000" cy="12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77680" y="2157840"/>
            <a:ext cx="10441800" cy="390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9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0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1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E0DE1F-A32D-4015-BD8D-6DCCB0B1BA25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474200" y="1514520"/>
            <a:ext cx="8583480" cy="31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pc="300" strike="noStrike" cap="all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1474200" y="4964040"/>
            <a:ext cx="858348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2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3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4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E9EFF3-1C1F-4FE8-BCC3-38C7F5453A45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000" cy="12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877680" y="2159280"/>
            <a:ext cx="4976640" cy="401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328440" y="2159280"/>
            <a:ext cx="4984920" cy="401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5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6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27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EAD038-B482-4671-B8FB-B30A5FBF8585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81280" y="602640"/>
            <a:ext cx="10428480" cy="76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81280" y="1696320"/>
            <a:ext cx="4962960" cy="64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881280" y="2343960"/>
            <a:ext cx="4962960" cy="38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322680" y="1696320"/>
            <a:ext cx="4987440" cy="64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400" b="1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6322680" y="2343960"/>
            <a:ext cx="4987440" cy="38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35403a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Click to edit Master text styles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Second level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Third level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3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Fourth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4" indent="-228600" defTabSz="914400">
              <a:lnSpc>
                <a:spcPct val="120000"/>
              </a:lnSpc>
              <a:spcBef>
                <a:spcPts val="499"/>
              </a:spcBef>
              <a:buClr>
                <a:srgbClr val="35403a"/>
              </a:buClr>
              <a:buFont typeface="Arial"/>
              <a:buChar char="•"/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Fifth level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dt" idx="28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7"/>
          <p:cNvSpPr>
            <a:spLocks noGrp="1"/>
          </p:cNvSpPr>
          <p:nvPr>
            <p:ph type="ftr" idx="29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8"/>
          <p:cNvSpPr>
            <a:spLocks noGrp="1"/>
          </p:cNvSpPr>
          <p:nvPr>
            <p:ph type="sldNum" idx="30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B6F1DC-FD33-4E02-BDDE-241EE0BF59D6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"/>
          <p:cNvSpPr/>
          <p:nvPr/>
        </p:nvSpPr>
        <p:spPr>
          <a:xfrm>
            <a:off x="0" y="0"/>
            <a:ext cx="12191400" cy="6859440"/>
          </a:xfrm>
          <a:prstGeom prst="rect">
            <a:avLst/>
          </a:prstGeom>
          <a:solidFill>
            <a:schemeClr val="lt2">
              <a:lumMod val="7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000" cy="12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Click to edit Master title style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dt" idx="31"/>
          </p:nvPr>
        </p:nvSpPr>
        <p:spPr>
          <a:xfrm>
            <a:off x="8776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&lt;fecha/hora&gt;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ftr" idx="32"/>
          </p:nvPr>
        </p:nvSpPr>
        <p:spPr>
          <a:xfrm>
            <a:off x="7132320" y="6356520"/>
            <a:ext cx="42969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8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&lt;pie de página&gt;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sldNum" idx="33"/>
          </p:nvPr>
        </p:nvSpPr>
        <p:spPr>
          <a:xfrm>
            <a:off x="11430000" y="6356520"/>
            <a:ext cx="5205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A69B57-0F48-4F1E-8DEA-92E70784C226}" type="slidenum">
              <a:rPr lang="en-US" sz="14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gigabyte-b450m-k" TargetMode="External"/><Relationship Id="rId2" Type="http://schemas.openxmlformats.org/officeDocument/2006/relationships/hyperlink" Target="https://www.pccomponentes.com/kingston-fury-beast-ddr4-3200-mhz-8gb-cl16" TargetMode="External"/><Relationship Id="rId3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wd-blue-sn580-500gb-ssd-m2-pcie-40-nvme" TargetMode="External"/><Relationship Id="rId2" Type="http://schemas.openxmlformats.org/officeDocument/2006/relationships/hyperlink" Target="https://www.pccomponentes.com/msi-mag-a550bn-550w-80-plus-bronze" TargetMode="External"/><Relationship Id="rId3" Type="http://schemas.openxmlformats.org/officeDocument/2006/relationships/hyperlink" Target="https://www.pccomponentes.com/tempest-rampart-argb-m-atx-cristal-templado-usb-30-negra" TargetMode="External"/><Relationship Id="rId4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pccomponentes.com/amd-ryzen-5-5600gt-36-46ghz-box" TargetMode="External"/><Relationship Id="rId2" Type="http://schemas.openxmlformats.org/officeDocument/2006/relationships/hyperlink" Target="https://www.pccomponentes.com/gigabyte-b450m-k" TargetMode="External"/><Relationship Id="rId3" Type="http://schemas.openxmlformats.org/officeDocument/2006/relationships/hyperlink" Target="https://www.pccomponentes.com/kingston-fury-beast-ddr4-3200-mhz-8gb-cl16" TargetMode="External"/><Relationship Id="rId4" Type="http://schemas.openxmlformats.org/officeDocument/2006/relationships/hyperlink" Target="https://www.pccomponentes.com/wd-blue-sn580-500gb-ssd-m2-pcie-40-nvme" TargetMode="External"/><Relationship Id="rId5" Type="http://schemas.openxmlformats.org/officeDocument/2006/relationships/hyperlink" Target="https://www.pccomponentes.com/msi-mag-a550bn-550w-80-plus-bronze" TargetMode="External"/><Relationship Id="rId6" Type="http://schemas.openxmlformats.org/officeDocument/2006/relationships/hyperlink" Target="https://www.pccomponentes.com/tempest-rampart-argb-m-atx-cristal-templado-usb-30-negra" TargetMode="External"/><Relationship Id="rId7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www.amazon.es/Blackview-MP60-actualizado-Espandibile-Display/dp/B0FL25SB34" TargetMode="External"/><Relationship Id="rId2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5040" y="745560"/>
            <a:ext cx="12189960" cy="22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800" b="1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Reto_03_UT3_PC_Oficina_y_MiniPC</a:t>
            </a:r>
            <a:endParaRPr lang="es-E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1523880" y="4012920"/>
            <a:ext cx="9143280" cy="140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Javier Borrueco Lorite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Grupo 3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pc="300" strike="noStrike" cap="all">
                <a:solidFill>
                  <a:schemeClr val="dk2"/>
                </a:solidFill>
                <a:effectLst/>
                <a:uFillTx/>
                <a:latin typeface="Aptos Light"/>
              </a:rPr>
              <a:t>20/02/2026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71200" y="442080"/>
            <a:ext cx="10438560" cy="97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Objetivo y requisitos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77680" y="2157840"/>
            <a:ext cx="10441800" cy="390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Objetivo: 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 Diseñar y comparar soluciones informáticas para una oficina.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Requisitos: 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 Un equipo preparado para el uso en oficina.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 Buscar una relación calidad-precio.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800" b="0" u="none" strike="noStrike">
                <a:solidFill>
                  <a:schemeClr val="dk2"/>
                </a:solidFill>
                <a:effectLst/>
                <a:uFillTx/>
                <a:latin typeface="Aptos Light"/>
              </a:rPr>
              <a:t> Garantizar la compatibilidad de los componentes del equipo.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B27FC7C-BBE2-4C47-B0A5-F0258A9DD2CC}" type="slidenum">
              <a:t>2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EAE327A7-ED8C-40E1-B25A-65767EA5C336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71200" y="229680"/>
            <a:ext cx="10449000" cy="95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</a:rPr>
              <a:t>CPU y por qué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77680" y="1373400"/>
            <a:ext cx="10441800" cy="523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AMD Ryzen 5 5600GT 3.6/4.6GHz Box 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</a:t>
            </a: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139,90 €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 </a:t>
            </a: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¿Por qué esta CPU?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Incluye gráficos integrados, lo que nos ahorra comprar una tarjeta gráfica dedicada.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Sus 12 hilos ofrecen potencia de sobra para multitarea en la oficina.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4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Requiere una placa base con el socket AM4.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3F5DD8-2DEE-416C-ABDB-CDB8FB928192}" type="slidenum">
              <a:t>3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B4E4A10E-E78F-43AD-9422-DD4B991D1F0C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71200" y="588240"/>
            <a:ext cx="10449000" cy="5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Placa + RAM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877680" y="1272600"/>
            <a:ext cx="10441800" cy="478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Placa Base: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Gigabyte B450M K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73,99 €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20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 Tiene socket AM4 (compatible con la CPU Ryzen 5600GT) y formato Micro-ATX.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Memoria RAM: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Kingston FURY Beast DDR4 3200 MHz 8GB CL16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 Precio: 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82,95 €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2000" b="0" i="1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Compatibilidad: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Es memoria DDR4, el estándar soportado por la placa base B450M.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BBB01F-75E2-444D-A316-2B467A989B87}" type="slidenum">
              <a:t>4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37CEA08-4160-414B-9A89-BF58A29549B2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9000" cy="72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SSD + PSU + chasis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77680" y="745920"/>
            <a:ext cx="10441800" cy="531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Almacenamiento (SSD):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WD Blue SN580 500GB SSD M.2 PCIe 4.0 NVMe | Precio: 44 €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Encaja en la ranura M.2 de la placa base.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Fuente de alimentación (PSU):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MSI MAG A550BN 550W 80 Plus Bronze | Precio: 49,90 €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2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Conectores ATX 24 pines y EPS 8 pines compatibles con la placa.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Chasis: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 Modelo: Tempest Rampart ARGB M-ATX Cristal Templado Negra | Precio: 36,99 €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 URL: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3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 Compatibilidad: Formato Micro-ATX para la placa base y espacio para la fuente ATX.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AC39D2A-9116-4407-A8B3-2A91D3EDF0E0}" type="slidenum">
              <a:t>5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3B3D8515-3190-4848-81C7-CB85B854E816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71200" y="128880"/>
            <a:ext cx="10449000" cy="7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Presupuesto final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" name="Marcador de contenido 12"/>
          <p:cNvGraphicFramePr/>
          <p:nvPr/>
        </p:nvGraphicFramePr>
        <p:xfrm>
          <a:off x="347400" y="986040"/>
          <a:ext cx="11477880" cy="5250240"/>
        </p:xfrm>
        <a:graphic>
          <a:graphicData uri="http://schemas.openxmlformats.org/drawingml/2006/table">
            <a:tbl>
              <a:tblPr/>
              <a:tblGrid>
                <a:gridCol w="2869560"/>
                <a:gridCol w="2869560"/>
                <a:gridCol w="2869560"/>
                <a:gridCol w="2869560"/>
              </a:tblGrid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Componente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Modelo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Precio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 Light"/>
                        </a:rPr>
                        <a:t>URL</a:t>
                      </a:r>
                      <a:endParaRPr lang="es-E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CPU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AMD Ryzen 5 5600GT Box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139,90 €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1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Placa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Gigabyte B450M K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73,99 €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2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RAM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Kingston FURY Beast 8GB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82,95 €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hlinkClick r:id="rId3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SSD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WD Blue SN580 500GB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  <a:ea typeface="Noto Sans CJK SC"/>
                        </a:rPr>
                        <a:t>44 €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4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PSU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MSI MAG A550BN 550W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49,90 €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5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Chasis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Tempest Rampart M-ATX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36,99 €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c77138"/>
                          </a:solidFill>
                          <a:effectLst/>
                          <a:uFillTx/>
                          <a:latin typeface="Aptos Light"/>
                          <a:hlinkClick r:id="rId6"/>
                        </a:rPr>
                        <a:t>Enlace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5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TOTAL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 Light"/>
                        </a:rPr>
                        <a:t>427,73 €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s-E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 Light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7A258E7-578C-4965-A2CF-F878D426247D}" type="slidenum">
              <a:t>6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FCE980F6-0A31-4A15-8930-2CA62ED87960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71200" y="5400"/>
            <a:ext cx="10449000" cy="86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Mini PC alternativa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66520" y="1127160"/>
            <a:ext cx="10441800" cy="523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Modelo: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Blackview MP60 (Intel Alder Lake N95)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Precio: 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299,00 € (Incluye Windows 11 Pro preinstalado)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URL: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</a:t>
            </a:r>
            <a:r>
              <a:rPr lang="es-ES" sz="1800" b="0" u="sng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  <a:hlinkClick r:id="rId1"/>
              </a:rPr>
              <a:t>Enlace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Pros: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 Formato ultra compacto.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 Más barato y listo para usar (Plug &amp; Play con SO incluido).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 Doble salida HDMI para dos monitores 4K.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Contras</a:t>
            </a: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 Potencia muy inferior a la Opción A.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 RAM limitada a 16 GB y no ampliable.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18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 Si se rompe una pieza interna, hay que cambiar todo el equipo.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1B81D5-6770-4F74-A863-7CEE25AAC2DF}" type="slidenum">
              <a:t>7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652F67C1-E71B-4F1E-942E-166F3D420C40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71200" y="-5760"/>
            <a:ext cx="10449000" cy="80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ES" sz="4000" b="0" u="none" strike="noStrike">
                <a:solidFill>
                  <a:schemeClr val="dk2"/>
                </a:solidFill>
                <a:effectLst/>
                <a:uFillTx/>
                <a:latin typeface="Walbaum Display"/>
                <a:ea typeface="Walbaum Display"/>
              </a:rPr>
              <a:t>Comparación final A vs B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77680" y="1104480"/>
            <a:ext cx="10441800" cy="49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opción elegir para una oficina real?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Elección: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La Opción B (Mini PC).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Motivo:</a:t>
            </a: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 Para tareas básicas, no hace falta la potencia bruta del PC por piezas. Cuesta la mitad , ocupa menos espacio y ya trae el Windows instalado, ahorrando tiempo de montaje. El PC a piezas solo lo usaría para puestos con cargas de trabajo muy pesadas.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1" i="1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¿Qué he aprendido sobre compatibilidad?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Que montar un PC es como un puzzle, donde la placa base manda. Teniendo que coincidir todo exactamente con ella (el socket, el tipo de RAM...) y si no, no encaja. 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s-ES" sz="2000" b="0" u="none" strike="noStrike">
                <a:solidFill>
                  <a:schemeClr val="dk2"/>
                </a:solidFill>
                <a:effectLst/>
                <a:uFillTx/>
                <a:latin typeface="Aptos Light"/>
                <a:ea typeface="Aptos Light"/>
              </a:rPr>
              <a:t>Y sobre los equipos ya montados (como el Mini PC), he visto que pagas por la comodidad, pero sacrificas poder "trastear" o ampliar el ordenador en el futuro si se queda corto.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
             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049D8E-CB18-4D83-9016-EEA8FAF7095A}" type="slidenum">
              <a:t>8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FD3EC390-5431-47FD-8DC2-42675B097BD2}" type="datetime1">
              <a:rPr lang="es-ES"/>
              <a:t>10/03/2026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ohoVogueVTI">
  <a:themeElements>
    <a:clrScheme name="BohoVogueVTI">
      <a:dk1>
        <a:srgbClr val="000000"/>
      </a:dk1>
      <a:lt1>
        <a:srgbClr val="ffffff"/>
      </a:lt1>
      <a:dk2>
        <a:srgbClr val="35403a"/>
      </a:dk2>
      <a:lt2>
        <a:srgbClr val="f1efeb"/>
      </a:lt2>
      <a:accent1>
        <a:srgbClr val="9e8b50"/>
      </a:accent1>
      <a:accent2>
        <a:srgbClr val="d5966b"/>
      </a:accent2>
      <a:accent3>
        <a:srgbClr val="9ba6bb"/>
      </a:accent3>
      <a:accent4>
        <a:srgbClr val="869880"/>
      </a:accent4>
      <a:accent5>
        <a:srgbClr val="588267"/>
      </a:accent5>
      <a:accent6>
        <a:srgbClr val="b89c46"/>
      </a:accent6>
      <a:hlink>
        <a:srgbClr val="c77138"/>
      </a:hlink>
      <a:folHlink>
        <a:srgbClr val="589374"/>
      </a:folHlink>
    </a:clrScheme>
    <a:fontScheme name="BohoVogueVTI">
      <a:majorFont>
        <a:latin typeface="Walbaum Display" pitchFamily="0" charset="1"/>
        <a:ea typeface=""/>
        <a:cs typeface=""/>
      </a:majorFont>
      <a:minorFont>
        <a:latin typeface="Aptos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Application>LibreOffice/25.8.4.2$Linux_X86_64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2026-02-27T10:51:55Z</dcterms:created>
  <dc:creator/>
  <dc:description/>
  <dc:language>es-ES</dc:language>
  <cp:lastModifiedBy/>
  <dcterms:modified xsi:type="dcterms:W3CDTF">2026-03-10T16:34:47Z</dcterms:modified>
  <cp:revision>268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8</vt:i4>
  </property>
</Properties>
</file>